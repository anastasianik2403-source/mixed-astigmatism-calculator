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SMILE</c:v>
                </c:pt>
              </c:strCache>
            </c:strRef>
          </c:tx>
          <c:spPr>
            <a:solidFill>
              <a:srgbClr val="1736D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До операции</c:v>
                  </c:pt>
                  <c:pt idx="1">
                    <c:v>1 сутки</c:v>
                  </c:pt>
                  <c:pt idx="2">
                    <c:v>3 мес.</c:v>
                  </c:pt>
                  <c:pt idx="3">
                    <c:v>6 мес.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0.34</c:v>
                </c:pt>
                <c:pt idx="1">
                  <c:v>0.73</c:v>
                </c:pt>
                <c:pt idx="2">
                  <c:v>0.88</c:v>
                </c:pt>
                <c:pt idx="3">
                  <c:v>0.75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ФемтоЛАЗИК</c:v>
                </c:pt>
              </c:strCache>
            </c:strRef>
          </c:tx>
          <c:spPr>
            <a:solidFill>
              <a:srgbClr val="9DAFE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До операции</c:v>
                  </c:pt>
                  <c:pt idx="1">
                    <c:v>1 сутки</c:v>
                  </c:pt>
                  <c:pt idx="2">
                    <c:v>3 мес.</c:v>
                  </c:pt>
                  <c:pt idx="3">
                    <c:v>6 мес.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0.32</c:v>
                </c:pt>
                <c:pt idx="1">
                  <c:v>0.54</c:v>
                </c:pt>
                <c:pt idx="2">
                  <c:v>0.75</c:v>
                </c:pt>
                <c:pt idx="3">
                  <c:v>0.72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0B1A6B"/>
                  </a:solidFill>
                  <a:latin typeface="Manrop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1E7F6"/>
              </a:solidFill>
              <a:prstDash val="dash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795"/>
              </a:solidFill>
              <a:latin typeface="Manrope"/>
              <a:cs typeface="Manrope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SMILE</c:v>
                </c:pt>
              </c:strCache>
            </c:strRef>
          </c:tx>
          <c:spPr>
            <a:solidFill>
              <a:srgbClr val="1736D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До операции</c:v>
                  </c:pt>
                  <c:pt idx="1">
                    <c:v>1 сутки</c:v>
                  </c:pt>
                  <c:pt idx="2">
                    <c:v>3 мес.</c:v>
                  </c:pt>
                  <c:pt idx="3">
                    <c:v>6 мес.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</c:v>
                </c:pt>
                <c:pt idx="1">
                  <c:v>0.87</c:v>
                </c:pt>
                <c:pt idx="2">
                  <c:v>0.98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ФемтоЛАЗИК</c:v>
                </c:pt>
              </c:strCache>
            </c:strRef>
          </c:tx>
          <c:spPr>
            <a:solidFill>
              <a:srgbClr val="9DAFE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До операции</c:v>
                  </c:pt>
                  <c:pt idx="1">
                    <c:v>1 сутки</c:v>
                  </c:pt>
                  <c:pt idx="2">
                    <c:v>3 мес.</c:v>
                  </c:pt>
                  <c:pt idx="3">
                    <c:v>6 мес.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0.87</c:v>
                </c:pt>
                <c:pt idx="1">
                  <c:v>0.84</c:v>
                </c:pt>
                <c:pt idx="2">
                  <c:v>0.92</c:v>
                </c:pt>
                <c:pt idx="3">
                  <c:v>0.95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0B1A6B"/>
                  </a:solidFill>
                  <a:latin typeface="Manrop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9525" cap="flat">
              <a:solidFill>
                <a:srgbClr val="E1E7F6"/>
              </a:solidFill>
              <a:prstDash val="dash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795"/>
              </a:solidFill>
              <a:latin typeface="Manrope"/>
              <a:cs typeface="Manrope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SMILE</c:v>
                </c:pt>
              </c:strCache>
            </c:strRef>
          </c:tx>
          <c:spPr>
            <a:solidFill>
              <a:srgbClr val="1736D9"/>
            </a:solidFill>
            <a:ln w="38100" cap="flat">
              <a:solidFill>
                <a:srgbClr val="1736D9"/>
              </a:solidFill>
              <a:prstDash val="solid,dash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736D9"/>
              </a:solidFill>
              <a:ln w="9525" cap="flat">
                <a:solidFill>
                  <a:srgbClr val="1736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До операции</c:v>
                  </c:pt>
                  <c:pt idx="1">
                    <c:v>1 сутки</c:v>
                  </c:pt>
                  <c:pt idx="2">
                    <c:v>3 мес.</c:v>
                  </c:pt>
                  <c:pt idx="3">
                    <c:v>6 мес.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</c:v>
                </c:pt>
                <c:pt idx="1">
                  <c:v>0.22</c:v>
                </c:pt>
                <c:pt idx="2">
                  <c:v>0.37</c:v>
                </c:pt>
                <c:pt idx="3">
                  <c:v>0.62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ФемтоЛАЗИК</c:v>
                </c:pt>
              </c:strCache>
            </c:strRef>
          </c:tx>
          <c:spPr>
            <a:solidFill>
              <a:srgbClr val="9DAFE3"/>
            </a:solidFill>
            <a:ln w="38100" cap="flat">
              <a:solidFill>
                <a:srgbClr val="9DAFE3"/>
              </a:solidFill>
              <a:prstDash val="solid,dash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9DAFE3"/>
              </a:solidFill>
              <a:ln w="9525" cap="flat">
                <a:solidFill>
                  <a:srgbClr val="9DAFE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До операции</c:v>
                  </c:pt>
                  <c:pt idx="1">
                    <c:v>1 сутки</c:v>
                  </c:pt>
                  <c:pt idx="2">
                    <c:v>3 мес.</c:v>
                  </c:pt>
                  <c:pt idx="3">
                    <c:v>6 мес.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1.25</c:v>
                </c:pt>
                <c:pt idx="1">
                  <c:v>-0.2</c:v>
                </c:pt>
                <c:pt idx="2">
                  <c:v>0.02</c:v>
                </c:pt>
                <c:pt idx="3">
                  <c:v>0.31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0B1A6B"/>
                  </a:solidFill>
                  <a:latin typeface="Manrope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-0.5"/>
        </c:scaling>
        <c:delete val="0"/>
        <c:axPos val="l"/>
        <c:majorGridlines>
          <c:spPr>
            <a:ln w="9525" cap="flat">
              <a:solidFill>
                <a:srgbClr val="E1E7F6"/>
              </a:solidFill>
              <a:prstDash val="dash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795"/>
              </a:solidFill>
              <a:latin typeface="Manrope"/>
              <a:cs typeface="Manrope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SMILE</c:v>
                </c:pt>
              </c:strCache>
            </c:strRef>
          </c:tx>
          <c:spPr>
            <a:solidFill>
              <a:srgbClr val="1736D9"/>
            </a:solidFill>
            <a:ln w="38100" cap="flat">
              <a:solidFill>
                <a:srgbClr val="1736D9"/>
              </a:solidFill>
              <a:prstDash val="solid,dash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736D9"/>
              </a:solidFill>
              <a:ln w="9525" cap="flat">
                <a:solidFill>
                  <a:srgbClr val="1736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До операции</c:v>
                  </c:pt>
                  <c:pt idx="1">
                    <c:v>1 сутки</c:v>
                  </c:pt>
                  <c:pt idx="2">
                    <c:v>3 мес.</c:v>
                  </c:pt>
                  <c:pt idx="3">
                    <c:v>6 мес.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-3.07</c:v>
                </c:pt>
                <c:pt idx="1">
                  <c:v>-0.51</c:v>
                </c:pt>
                <c:pt idx="2">
                  <c:v>-0.44</c:v>
                </c:pt>
                <c:pt idx="3">
                  <c:v>-0.62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ФемтоЛАЗИК</c:v>
                </c:pt>
              </c:strCache>
            </c:strRef>
          </c:tx>
          <c:spPr>
            <a:solidFill>
              <a:srgbClr val="9DAFE3"/>
            </a:solidFill>
            <a:ln w="38100" cap="flat">
              <a:solidFill>
                <a:srgbClr val="9DAFE3"/>
              </a:solidFill>
              <a:prstDash val="solid,dash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9DAFE3"/>
              </a:solidFill>
              <a:ln w="9525" cap="flat">
                <a:solidFill>
                  <a:srgbClr val="9DAFE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До операции</c:v>
                  </c:pt>
                  <c:pt idx="1">
                    <c:v>1 сутки</c:v>
                  </c:pt>
                  <c:pt idx="2">
                    <c:v>3 мес.</c:v>
                  </c:pt>
                  <c:pt idx="3">
                    <c:v>6 мес.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-3.24</c:v>
                </c:pt>
                <c:pt idx="1">
                  <c:v>-1.13</c:v>
                </c:pt>
                <c:pt idx="2">
                  <c:v>-1.19</c:v>
                </c:pt>
                <c:pt idx="3">
                  <c:v>-1.25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0B1A6B"/>
                  </a:solidFill>
                  <a:latin typeface="Manrope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3.5"/>
        </c:scaling>
        <c:delete val="0"/>
        <c:axPos val="l"/>
        <c:majorGridlines>
          <c:spPr>
            <a:ln w="9525" cap="flat">
              <a:solidFill>
                <a:srgbClr val="E1E7F6"/>
              </a:solidFill>
              <a:prstDash val="dash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795"/>
              </a:solidFill>
              <a:latin typeface="Manrope"/>
              <a:cs typeface="Manrope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SMILE</c:v>
                </c:pt>
              </c:strCache>
            </c:strRef>
          </c:tx>
          <c:spPr>
            <a:solidFill>
              <a:srgbClr val="1736D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До операции</c:v>
                  </c:pt>
                  <c:pt idx="1">
                    <c:v>6 мес.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554</c:v>
                </c:pt>
                <c:pt idx="1">
                  <c:v>501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ФемтоЛАЗИК</c:v>
                </c:pt>
              </c:strCache>
            </c:strRef>
          </c:tx>
          <c:spPr>
            <a:solidFill>
              <a:srgbClr val="9DAFE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До операции</c:v>
                  </c:pt>
                  <c:pt idx="1">
                    <c:v>6 мес.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537</c:v>
                </c:pt>
                <c:pt idx="1">
                  <c:v>501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100" u="none">
                  <a:solidFill>
                    <a:srgbClr val="0B1A6B"/>
                  </a:solidFill>
                  <a:latin typeface="Manrop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440"/>
        </c:scaling>
        <c:delete val="0"/>
        <c:axPos val="l"/>
        <c:majorGridlines>
          <c:spPr>
            <a:ln w="9525" cap="flat">
              <a:solidFill>
                <a:srgbClr val="E1E7F6"/>
              </a:solidFill>
              <a:prstDash val="dash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795"/>
              </a:solidFill>
              <a:latin typeface="Manrope"/>
              <a:cs typeface="Manrope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SMILE</c:v>
                </c:pt>
              </c:strCache>
            </c:strRef>
          </c:tx>
          <c:spPr>
            <a:solidFill>
              <a:srgbClr val="1736D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До операции</c:v>
                  </c:pt>
                  <c:pt idx="1">
                    <c:v>6 мес.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41.58</c:v>
                </c:pt>
                <c:pt idx="1">
                  <c:v>40.78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ФемтоЛАЗИК</c:v>
                </c:pt>
              </c:strCache>
            </c:strRef>
          </c:tx>
          <c:spPr>
            <a:solidFill>
              <a:srgbClr val="9DAFE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До операции</c:v>
                  </c:pt>
                  <c:pt idx="1">
                    <c:v>6 мес.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41.69</c:v>
                </c:pt>
                <c:pt idx="1">
                  <c:v>41.83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0B1A6B"/>
                  </a:solidFill>
                  <a:latin typeface="Manrop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38"/>
        </c:scaling>
        <c:delete val="0"/>
        <c:axPos val="l"/>
        <c:majorGridlines>
          <c:spPr>
            <a:ln w="9525" cap="flat">
              <a:solidFill>
                <a:srgbClr val="E1E7F6"/>
              </a:solidFill>
              <a:prstDash val="dash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SMILE</c:v>
                </c:pt>
              </c:strCache>
            </c:strRef>
          </c:tx>
          <c:spPr>
            <a:solidFill>
              <a:srgbClr val="1736D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До операции</c:v>
                  </c:pt>
                  <c:pt idx="1">
                    <c:v>6 мес.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44.44</c:v>
                </c:pt>
                <c:pt idx="1">
                  <c:v>41.78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ФемтоЛАЗИК</c:v>
                </c:pt>
              </c:strCache>
            </c:strRef>
          </c:tx>
          <c:spPr>
            <a:solidFill>
              <a:srgbClr val="9DAFE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A6B"/>
                    </a:solidFill>
                    <a:latin typeface="Manrop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До операции</c:v>
                  </c:pt>
                  <c:pt idx="1">
                    <c:v>6 мес.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44.76</c:v>
                </c:pt>
                <c:pt idx="1">
                  <c:v>42.83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0B1A6B"/>
                  </a:solidFill>
                  <a:latin typeface="Manrop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38"/>
        </c:scaling>
        <c:delete val="0"/>
        <c:axPos val="l"/>
        <c:majorGridlines>
          <c:spPr>
            <a:ln w="9525" cap="flat">
              <a:solidFill>
                <a:srgbClr val="E1E7F6"/>
              </a:solidFill>
              <a:prstDash val="dash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95"/>
                </a:solidFill>
                <a:latin typeface="Manro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±0,5 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736D9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3E9F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в пределах</c:v>
                </c:pt>
                <c:pt idx="1">
                  <c:v>вне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74</c:v>
                </c:pt>
                <c:pt idx="1">
                  <c:v>26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±1,0 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736D9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3E9F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в пределах</c:v>
                </c:pt>
                <c:pt idx="1">
                  <c:v>вне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88</c:v>
                </c:pt>
                <c:pt idx="1">
                  <c:v>12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доклада, авторы.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Объясняем, что такое смешанный астигматизм.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Shing E. et al., 2024: систематический обзор и метаанализ.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Азар Д.Т. и соавт., 2025; Клокова О.А. и соавт.,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Ganesh S. et al., 2024 (VisuMax); Mehta-Hurt D. et al., ARVO 2025 (ELITA).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исследования.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группы, сроки наблюдения.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Критерии включения и исключения.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± SD — среднее ± стандартное отклонение.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Стандартное и специальное обследование.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Протокол транспозиции. Пример: исходная рефракция +0,25 −3,00 × 5°, SE −1,25 D; в лазер вводим −2,75 +3,00 × 95°.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Гамидов Г.А., Мушкова И.А., Костенев С.В., Гамидов А.А. Офтальмология. 2020;17(3):351–360.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Протоколы VisuMax для обоих глаз. Оперирующий хирург — д.м.н. Костенев С.В.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Параметры операций в обеих группах.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Математическая модель лентикулы. T_min ≈ 20 мкм — константа устройства.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НКОЗ — некорригированная острота зрения (без очков).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МКОЗ — максимально корригированная острота зрения (в очках).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Сферический компонент рефракции,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Цилиндрический компонент рефракции,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Пахиметрия и кератометрия до и через 6 месяцев.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Прогнозируемость в группе SMILE: запланированный и достигнутый сфероэквивалент.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Охранные документы и публикация.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 — формулировки сохранены по исходной презентации.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6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17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18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19-image-1.jpeg"/><Relationship Id="rId3" Type="http://schemas.openxmlformats.org/officeDocument/2006/relationships/image" Target="../media/image-1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chart" Target="/ppt/charts/chart7.xml"/><Relationship Id="rId1" Type="http://schemas.openxmlformats.org/officeDocument/2006/relationships/image" Target="../media/Slide-20-image-1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1" Type="http://schemas.openxmlformats.org/officeDocument/2006/relationships/image" Target="../media/Slide-21-image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51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89000" y="762000"/>
            <a:ext cx="571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26-й Всероссийский конгресс · Москва, ЦМТ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55000" y="762000"/>
            <a:ext cx="317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2–4 сентября 2026</a:t>
            </a:r>
            <a:endParaRPr lang="en-US" sz="1100" dirty="0"/>
          </a:p>
        </p:txBody>
      </p:sp>
      <p:pic>
        <p:nvPicPr>
          <p:cNvPr id="5" name="Image 0" descr="/home/user/Mixed-astigmatism-calculator/presentation/assets/3d-wa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88000" y="1079500"/>
            <a:ext cx="6985000" cy="423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9000" y="1460500"/>
            <a:ext cx="5715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Лентикулярная коррекция</a:t>
            </a:r>
            <a:endParaRPr lang="en-US" sz="4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смешанного астигматизма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89000" y="43815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исправить астигматизм одной операцией SMILE, если одна ось глаза близорукая, а другая — дальнозоркая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89000" y="54610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Никитина А.Е.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Костенев С.В., Макаров Р.А., Садрутдинов Р.Ш.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9000" y="5746750"/>
            <a:ext cx="825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ФГБОУ ВО «Российский университет медицины» Минздрава России</a:t>
            </a: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ФГАУ «НМИЦ «МНТК «Микрохирургия глаза» им. акад. С.Н. Фёдорова» Минздрава России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144000" y="4953000"/>
            <a:ext cx="2286000" cy="1079500"/>
          </a:xfrm>
          <a:prstGeom prst="roundRect">
            <a:avLst>
              <a:gd name="adj" fmla="val 2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372600" y="5118100"/>
            <a:ext cx="190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40 глаз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9372600" y="5588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каждой группе · наблюдение 6 месяцев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 смешанном астигматизме одна ось глаза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близорукая, а другая — дальнозоркая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6350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1905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это выглядит</a:t>
            </a:r>
            <a:endParaRPr lang="en-US" sz="1050" dirty="0"/>
          </a:p>
        </p:txBody>
      </p:sp>
      <p:pic>
        <p:nvPicPr>
          <p:cNvPr id="7" name="Image 0" descr="/home/user/Mixed-astigmatism-calculator/presentation/assets/eye-secti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7400" y="2349500"/>
            <a:ext cx="5588000" cy="381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59600" y="1587500"/>
            <a:ext cx="4826000" cy="2349500"/>
          </a:xfrm>
          <a:prstGeom prst="roundRect">
            <a:avLst>
              <a:gd name="adj" fmla="val 9189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39000" y="1841500"/>
            <a:ext cx="12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</a:t>
            </a:r>
            <a:endParaRPr lang="en-US" sz="7500" dirty="0"/>
          </a:p>
        </p:txBody>
      </p:sp>
      <p:sp>
        <p:nvSpPr>
          <p:cNvPr id="10" name="Text 7"/>
          <p:cNvSpPr/>
          <p:nvPr/>
        </p:nvSpPr>
        <p:spPr>
          <a:xfrm>
            <a:off x="7239000" y="27940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Близорукий меридиан: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лучи фокусируются </a:t>
            </a:r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BFD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перед</a:t>
            </a:r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сетчаткой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959600" y="4102100"/>
            <a:ext cx="4826000" cy="2349500"/>
          </a:xfrm>
          <a:prstGeom prst="roundRect">
            <a:avLst>
              <a:gd name="adj" fmla="val 91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239000" y="4356100"/>
            <a:ext cx="12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</a:t>
            </a:r>
            <a:endParaRPr lang="en-US" sz="7500" dirty="0"/>
          </a:p>
        </p:txBody>
      </p:sp>
      <p:sp>
        <p:nvSpPr>
          <p:cNvPr id="13" name="Text 10"/>
          <p:cNvSpPr/>
          <p:nvPr/>
        </p:nvSpPr>
        <p:spPr>
          <a:xfrm>
            <a:off x="7239000" y="53086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Дальнозоркий меридиан: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лучи фокусируются </a:t>
            </a:r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</a:t>
            </a:r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сетчаткой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Астигматизм во многом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передаётся по наследству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4826000" cy="4864100"/>
          </a:xfrm>
          <a:prstGeom prst="roundRect">
            <a:avLst>
              <a:gd name="adj" fmla="val 4474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2540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Полногеномные исследования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0400" y="26670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50+</a:t>
            </a:r>
            <a:endParaRPr lang="en-US" sz="11500" dirty="0"/>
          </a:p>
        </p:txBody>
      </p:sp>
      <p:sp>
        <p:nvSpPr>
          <p:cNvPr id="8" name="Text 6"/>
          <p:cNvSpPr/>
          <p:nvPr/>
        </p:nvSpPr>
        <p:spPr>
          <a:xfrm>
            <a:off x="660400" y="4318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вариантов генов (полиморфизмов) связаны с астигматизмом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35600" y="1587500"/>
            <a:ext cx="6350000" cy="2349500"/>
          </a:xfrm>
          <a:prstGeom prst="roundRect">
            <a:avLst>
              <a:gd name="adj" fmla="val 91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18415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генов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715000" y="28575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которых нашли эти варианты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35600" y="4102100"/>
            <a:ext cx="6350000" cy="2349500"/>
          </a:xfrm>
          <a:prstGeom prst="roundRect">
            <a:avLst>
              <a:gd name="adj" fmla="val 91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43561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PDGFRA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715000" y="51435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ген, который влияет на кривизну роговицы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603250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Shing E. et al. Am J Ophthalmol. 2025;269:161–171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Сегодня смешанный астигматизм исправляют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эксимерным лазером. А лентикулярным?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5588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2286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Эксимерлазерная технология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0400" y="2413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ФемтоЛАЗИК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60400" y="3302000"/>
            <a:ext cx="495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Сейчас это «золотой» стандарт коррекции смешанного астигматизма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0400" y="5715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Азар Д.Т. и соавт., ГЭОТАР-Медиа, 2025</a:t>
            </a:r>
            <a:endParaRPr lang="en-US" sz="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Клокова О.А. и соавт., Офтальмология, 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97600" y="1587500"/>
            <a:ext cx="5588000" cy="4864100"/>
          </a:xfrm>
          <a:prstGeom prst="roundRect">
            <a:avLst>
              <a:gd name="adj" fmla="val 4439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1600" y="1841500"/>
            <a:ext cx="2413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Лентикулярная технология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51600" y="2413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SMILE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51600" y="3302000"/>
            <a:ext cx="495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смешанного астигматизма в обычной практике пока не применяется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25000" y="4064000"/>
            <a:ext cx="203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?</a:t>
            </a:r>
            <a:endParaRPr lang="en-US" sz="18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мире лентикулярную коррекцию смешанного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астигматизма только начинают изучать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5588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60400" y="26670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Пилотное исследование · VisuMax (Zeiss)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0400" y="3048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Показали, что исправить смешанный астигматизм лентикулярной хирургией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возможно</a:t>
            </a:r>
            <a:endParaRPr lang="en-US" sz="1500" dirty="0"/>
          </a:p>
        </p:txBody>
      </p:sp>
      <p:pic>
        <p:nvPicPr>
          <p:cNvPr id="9" name="Image 0" descr="/home/user/Mixed-astigmatism-calculator/presentation/assets/article-ganes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0400" y="4127500"/>
            <a:ext cx="2286000" cy="2159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75000" y="5715000"/>
            <a:ext cx="266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Ganesh S. et al., 2024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97600" y="1587500"/>
            <a:ext cx="5588000" cy="3048000"/>
          </a:xfrm>
          <a:prstGeom prst="roundRect">
            <a:avLst>
              <a:gd name="adj" fmla="val 708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51600" y="18415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6451600" y="26670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Опыт ex vivo · ELITA (Johnson &amp; Johnson)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51600" y="3048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свиных глазах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показали, что коррекция технически выполнима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51600" y="41910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Mehta-Hurt D. et al., ARVO, 2025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97600" y="4800600"/>
            <a:ext cx="5588000" cy="1651000"/>
          </a:xfrm>
          <a:prstGeom prst="roundRect">
            <a:avLst>
              <a:gd name="adj" fmla="val 13077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51600" y="50546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Готовой методики для клиник пока нет — её мы и разработали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51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89000" y="889000"/>
            <a:ext cx="1016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Цель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89000" y="1905000"/>
            <a:ext cx="635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Разработать </a:t>
            </a:r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лентикулярную технологию</a:t>
            </a:r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для коррекции смешанного астигматизма</a:t>
            </a:r>
            <a:endParaRPr lang="en-US" sz="4000" dirty="0"/>
          </a:p>
        </p:txBody>
      </p:sp>
      <p:pic>
        <p:nvPicPr>
          <p:cNvPr id="5" name="Image 0" descr="/home/user/Mixed-astigmatism-calculator/presentation/assets/3d-le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47000" y="2667000"/>
            <a:ext cx="4064000" cy="241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60000" y="889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/ 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Мы сравнили две группы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 20 пациентов (40 глаз)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5588000" cy="3556000"/>
          </a:xfrm>
          <a:prstGeom prst="roundRect">
            <a:avLst>
              <a:gd name="adj" fmla="val 6071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1016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Группа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0400" y="22860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SMILE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60400" y="3048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Лентикулярная технология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VisuMax, Carl Zeiss Meditec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0400" y="4381500"/>
            <a:ext cx="29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40 глаз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83000" y="2476500"/>
            <a:ext cx="2095500" cy="2476500"/>
          </a:xfrm>
          <a:prstGeom prst="roundRect">
            <a:avLst>
              <a:gd name="adj" fmla="val 103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1" name="Image 0" descr="/home/user/Mixed-astigmatism-calculator/presentation/assets/visumax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84600" y="2667000"/>
            <a:ext cx="1892300" cy="20955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97600" y="1587500"/>
            <a:ext cx="5588000" cy="3556000"/>
          </a:xfrm>
          <a:prstGeom prst="roundRect">
            <a:avLst>
              <a:gd name="adj" fmla="val 607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51600" y="1841500"/>
            <a:ext cx="1016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Группа 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51600" y="2286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ФемтоЛАЗИК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6451600" y="3048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Эксимерлазерная технология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WaveLight FS200 + EX500, Alcon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51600" y="4381500"/>
            <a:ext cx="29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40 глаз</a:t>
            </a:r>
            <a:endParaRPr lang="en-US" sz="3200" dirty="0"/>
          </a:p>
        </p:txBody>
      </p:sp>
      <p:pic>
        <p:nvPicPr>
          <p:cNvPr id="17" name="Image 1" descr="/home/user/Mixed-astigmatism-calculator/presentation/assets/waveligh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07500" y="3111500"/>
            <a:ext cx="2413000" cy="18415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06400" y="5308600"/>
            <a:ext cx="11379200" cy="1143000"/>
          </a:xfrm>
          <a:prstGeom prst="roundRect">
            <a:avLst>
              <a:gd name="adj" fmla="val 1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60400" y="5588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Осмотры: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2794000" y="5873750"/>
            <a:ext cx="8509000" cy="0"/>
          </a:xfrm>
          <a:prstGeom prst="line">
            <a:avLst/>
          </a:prstGeom>
          <a:noFill/>
          <a:ln w="38100">
            <a:solidFill>
              <a:srgbClr val="D9E1F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921000" y="5784850"/>
            <a:ext cx="177800" cy="177800"/>
          </a:xfrm>
          <a:prstGeom prst="ellipse">
            <a:avLst/>
          </a:prstGeom>
          <a:solidFill>
            <a:srgbClr val="1736D9"/>
          </a:solidFill>
          <a:ln w="50800">
            <a:solidFill>
              <a:srgbClr val="D3DCF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175000" y="5588000"/>
            <a:ext cx="17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 операции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207000" y="5784850"/>
            <a:ext cx="177800" cy="177800"/>
          </a:xfrm>
          <a:prstGeom prst="ellipse">
            <a:avLst/>
          </a:prstGeom>
          <a:solidFill>
            <a:srgbClr val="1736D9"/>
          </a:solidFill>
          <a:ln w="50800">
            <a:solidFill>
              <a:srgbClr val="D3DCF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61000" y="5588000"/>
            <a:ext cx="17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сутки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7302500" y="5784850"/>
            <a:ext cx="177800" cy="177800"/>
          </a:xfrm>
          <a:prstGeom prst="ellipse">
            <a:avLst/>
          </a:prstGeom>
          <a:solidFill>
            <a:srgbClr val="1736D9"/>
          </a:solidFill>
          <a:ln w="50800">
            <a:solidFill>
              <a:srgbClr val="D3DCF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556500" y="5588000"/>
            <a:ext cx="17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месяца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9398000" y="5784850"/>
            <a:ext cx="177800" cy="177800"/>
          </a:xfrm>
          <a:prstGeom prst="ellipse">
            <a:avLst/>
          </a:prstGeom>
          <a:solidFill>
            <a:srgbClr val="1736D9"/>
          </a:solidFill>
          <a:ln w="50800">
            <a:solidFill>
              <a:srgbClr val="D3DCF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652000" y="5588000"/>
            <a:ext cx="17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месяцев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Кого включали в исследование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5588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1270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Включали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0400" y="2286000"/>
            <a:ext cx="508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18 лет и старше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диагноз «смешанный астигматизм»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острота зрения в очках (МКОЗ) 0,3 и выше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толщина роговицы 470 мкм и больше</a:t>
            </a:r>
            <a:endParaRPr lang="en-US" sz="15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нет признаков кератоконуса по BAD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0400" y="4953000"/>
            <a:ext cx="5080000" cy="1244600"/>
          </a:xfrm>
          <a:prstGeom prst="roundRect">
            <a:avLst>
              <a:gd name="adj" fmla="val 17347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9000" y="50800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SMILE дополнительно: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9000" y="5397500"/>
            <a:ext cx="469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Sph ≤ +1,75 D · Cyl ≥ −5,0 D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≤ −0,75 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97600" y="1587500"/>
            <a:ext cx="5588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51600" y="1841500"/>
            <a:ext cx="14605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 включали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51600" y="2286000"/>
            <a:ext cx="508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младше 18 лет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болезни роговицы: кератоконус, дистрофии, помутнения, рубцы, неоваскуляризация, кератопластика в прошлом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МКОЗ ниже 0,3 или роговица тоньше 470 мкм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ЛАЗИК в прошлом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глаукома (кроме начальной), катаракта (кроме врождённой)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воспаление или системные болезни в обострении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беременность и кормление грудью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для SMILE: рефракция вне указанных границ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Какими были глаза до операции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7874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841500"/>
          <a:ext cx="7366000" cy="914400"/>
        </p:xfrm>
        <a:graphic>
          <a:graphicData uri="http://schemas.openxmlformats.org/drawingml/2006/table">
            <a:tbl>
              <a:tblPr/>
              <a:tblGrid>
                <a:gridCol w="2095500"/>
                <a:gridCol w="2635250"/>
                <a:gridCol w="2635250"/>
              </a:tblGrid>
              <a:tr h="876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SMILE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6D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ФемтоЛАЗИК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Сфера, D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+0,25…+1,75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(+0,54 ± 0,39)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+0,25…+3,00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(+1,25 ± 0,81)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Цилиндр, D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−2,00…−5,00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(−3,07 ± 0,93)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−1,25…−6,00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(−3,24 ± 2,03)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Кератометрия, D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K1 / K2 / Kср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41,58 / 44,44 / 43,00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41,69 / 44,76 / 43,22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Толщина роговицы, мкм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494…615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(554,1 ± 36,2)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483…596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(537,1 ± 30,8)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83600" y="1587500"/>
            <a:ext cx="3302000" cy="2349500"/>
          </a:xfrm>
          <a:prstGeom prst="roundRect">
            <a:avLst>
              <a:gd name="adj" fmla="val 91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737600" y="18415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Средний возраст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737600" y="23495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31,2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8737600" y="3111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лет в группе SMILE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29,2 — в группе ФемтоЛАЗИК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83600" y="4102100"/>
            <a:ext cx="3302000" cy="2349500"/>
          </a:xfrm>
          <a:prstGeom prst="roundRect">
            <a:avLst>
              <a:gd name="adj" fmla="val 91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737600" y="4356100"/>
            <a:ext cx="1270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Мужчины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37600" y="48641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55%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8737600" y="56261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группе SMILE (11 из 20)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35% — в группе ФемтоЛАЗИК (7 из 20)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обследовали пациентов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5588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Стандартно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0400" y="2349500"/>
            <a:ext cx="508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Визометрия</a:t>
            </a:r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острота зрения без очков и в очках, в обычных условиях и с расширенным зрачком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Рефрактометрия и кератометрия</a:t>
            </a:r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тоже в двух режимах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Тонометрия, биометрия, периметрия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Биомикроскопия и офтальмоскопия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7600" y="1587500"/>
            <a:ext cx="5588000" cy="4864100"/>
          </a:xfrm>
          <a:prstGeom prst="roundRect">
            <a:avLst>
              <a:gd name="adj" fmla="val 4439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51600" y="18415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Дополнительно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51600" y="2349500"/>
            <a:ext cx="508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FD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Кератотопография</a:t>
            </a:r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Pentacam AXL (Oculus)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FD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Упругость роговицы</a:t>
            </a:r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Corvis ST (Oculus)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FD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Аберрометрия</a:t>
            </a:r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KR-1W (Topcon)</a:t>
            </a:r>
            <a:endParaRPr lang="en-US" sz="1400" dirty="0"/>
          </a:p>
        </p:txBody>
      </p:sp>
      <p:pic>
        <p:nvPicPr>
          <p:cNvPr id="11" name="Image 0" descr="/home/user/Mixed-astigmatism-calculator/presentation/assets/pentaca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1600" y="4381500"/>
            <a:ext cx="5080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пересчитать рефракцию для SMILE: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пять шагов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2159000" cy="330200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9600" y="1778000"/>
            <a:ext cx="12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09600" y="2603500"/>
            <a:ext cx="1841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Проверяем,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подходит ли глаз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556000"/>
            <a:ext cx="1841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Sph ≤ +1,75 D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Cyl ≥ −5,0 D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≤ −0,75 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17800" y="1587500"/>
            <a:ext cx="2159000" cy="330200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1000" y="1778000"/>
            <a:ext cx="12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921000" y="2603500"/>
            <a:ext cx="1841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Переносим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сферу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1000" y="3556000"/>
            <a:ext cx="1841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SPH′ = SPH + CYL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587500"/>
            <a:ext cx="2159000" cy="330200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32400" y="1778000"/>
            <a:ext cx="12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232400" y="2603500"/>
            <a:ext cx="1841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Меняем знак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цилиндра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32400" y="3556000"/>
            <a:ext cx="1841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CYL′ = −CYL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40600" y="1587500"/>
            <a:ext cx="2159000" cy="330200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1778000"/>
            <a:ext cx="12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543800" y="2603500"/>
            <a:ext cx="1841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Поворачиваем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ось на 90°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43800" y="3556000"/>
            <a:ext cx="1841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ось ≤ 90° → +90°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ось &gt; 90° → −90°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52000" y="1587500"/>
            <a:ext cx="2159000" cy="3302000"/>
          </a:xfrm>
          <a:prstGeom prst="roundRect">
            <a:avLst>
              <a:gd name="adj" fmla="val 10000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55200" y="1778000"/>
            <a:ext cx="12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855200" y="2603500"/>
            <a:ext cx="1841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Вводим данные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VisuMax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55200" y="3556000"/>
            <a:ext cx="1841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миопия до −10,0 D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цилиндр до −5,0 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6400" y="5054600"/>
            <a:ext cx="11379200" cy="1397000"/>
          </a:xfrm>
          <a:prstGeom prst="roundRect">
            <a:avLst>
              <a:gd name="adj" fmla="val 1545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0400" y="5270500"/>
            <a:ext cx="2159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Пример расчёта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0400" y="5715000"/>
            <a:ext cx="444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+0,25 −3,00 × 5°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270500" y="5715000"/>
            <a:ext cx="101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413500" y="5715000"/>
            <a:ext cx="520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−2,75 +3,00 × 95°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937500" y="5308600"/>
            <a:ext cx="368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Розенблюм Ю.З. Оптометрия, 1996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Перед операцией размечаем роговицу,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чтобы точно попасть в ось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7493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6" name="Image 0" descr="/home/user/Mixed-astigmatism-calculator/presentation/assets/eye-markin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600" y="1790700"/>
            <a:ext cx="7086600" cy="4457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02600" y="1587500"/>
            <a:ext cx="3683000" cy="4864100"/>
          </a:xfrm>
          <a:prstGeom prst="roundRect">
            <a:avLst>
              <a:gd name="adj" fmla="val 5862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56600" y="18415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Зачем это нужно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56600" y="2349500"/>
            <a:ext cx="317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Лёжа глаз может немного повернуться вокруг своей оси — это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BFD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циклоторсия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Метки на роговице помогают это учесть.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56600" y="55880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Гамидов Г.А., Мушкова И.А., Костенев С.В., Гамидов А.А., 2020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Пример операции: лазер получил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пересчитанные данные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3556000" cy="4864100"/>
          </a:xfrm>
          <a:prstGeom prst="roundRect">
            <a:avLst>
              <a:gd name="adj" fmla="val 607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6" name="Image 0" descr="/home/user/Mixed-astigmatism-calculator/presentation/assets/visumax-protoco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600" y="1790700"/>
            <a:ext cx="3149600" cy="4457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65600" y="1587500"/>
            <a:ext cx="4064000" cy="4864100"/>
          </a:xfrm>
          <a:prstGeom prst="roundRect">
            <a:avLst>
              <a:gd name="adj" fmla="val 5313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419600" y="1841500"/>
            <a:ext cx="1905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Введено в VisuMax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19600" y="23495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Правый глаз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19600" y="2667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−2,75 +3,00 × 95°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419600" y="34290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Левый глаз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19600" y="37465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−2,50 +3,00 × 90°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4419600" y="4572000"/>
            <a:ext cx="355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Оптическая зона — 6,7 мм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 плану остаточная рефракция — 0,00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432800" y="1587500"/>
            <a:ext cx="3352800" cy="4864100"/>
          </a:xfrm>
          <a:prstGeom prst="roundRect">
            <a:avLst>
              <a:gd name="adj" fmla="val 6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5" name="Image 1" descr="/home/user/Mixed-astigmatism-calculator/presentation/assets/op-vie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36000" y="1790700"/>
            <a:ext cx="2946400" cy="3924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36000" y="5842000"/>
            <a:ext cx="29464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Оперирующий хирург —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д.м.н. Костенев С.В.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Настройки лазеров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5588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2540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SMILE · VisuMax, режим «быстрый»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286000"/>
          <a:ext cx="5080000" cy="914400"/>
        </p:xfrm>
        <a:graphic>
          <a:graphicData uri="http://schemas.openxmlformats.org/drawingml/2006/table">
            <a:tbl>
              <a:tblPr/>
              <a:tblGrid>
                <a:gridCol w="3048000"/>
                <a:gridCol w="2032000"/>
              </a:tblGrid>
              <a:tr h="4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Оптическая зона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6,7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Переходная зона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0,10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Диаметр кэпа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7,8–7,9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Толщина кэпа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120 мкм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Угол краевого надреза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90°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Длина разреза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2,0–2,4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Интерфейс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 или M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Число разрезов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97600" y="1587500"/>
            <a:ext cx="5588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51600" y="1841500"/>
            <a:ext cx="2794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ФемтоЛАЗИК · WaveLight FS200 + EX500</a:t>
            </a:r>
            <a:endParaRPr lang="en-US" sz="10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1600" y="2286000"/>
          <a:ext cx="5080000" cy="914400"/>
        </p:xfrm>
        <a:graphic>
          <a:graphicData uri="http://schemas.openxmlformats.org/drawingml/2006/table">
            <a:tbl>
              <a:tblPr/>
              <a:tblGrid>
                <a:gridCol w="3048000"/>
                <a:gridCol w="2032000"/>
              </a:tblGrid>
              <a:tr h="56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Оптическая зона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6,5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Переходная зона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1,2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Толщина флэпа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110 мкм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Общая зона абляции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8,9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Номограмма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 001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Ножка флэпа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90°, 0,6 мм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7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79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Остальное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подбирали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A6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индивидуально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 смешанном астигматизме лентикула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имеет форму седла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5715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2286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Математическая модель</a:t>
            </a:r>
            <a:endParaRPr lang="en-US" sz="1050" dirty="0"/>
          </a:p>
        </p:txBody>
      </p:sp>
      <p:pic>
        <p:nvPicPr>
          <p:cNvPr id="7" name="Image 0" descr="/home/user/Mixed-astigmatism-calculator/presentation/assets/lenticule-3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0400" y="2222500"/>
            <a:ext cx="5207000" cy="406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24600" y="1587500"/>
            <a:ext cx="5461000" cy="2794000"/>
          </a:xfrm>
          <a:prstGeom prst="roundRect">
            <a:avLst>
              <a:gd name="adj" fmla="val 7727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78600" y="1841500"/>
            <a:ext cx="2159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Толщина лентикулы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78600" y="2349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T(r,θ) = C + A·(r/R)²·cos 2(θ − ось)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78600" y="2984500"/>
            <a:ext cx="5016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 = (Max + Tmin) / 2   ·   A = (Max − Tmin) / 2</a:t>
            </a:r>
            <a:endParaRPr lang="en-US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 = S / 2   ·   Tmin ≈ 20 мкм</a:t>
            </a:r>
            <a:endParaRPr lang="en-US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 = S²/6 · (2|Sph′| + |Cyl′|)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24600" y="4546600"/>
            <a:ext cx="5461000" cy="1905000"/>
          </a:xfrm>
          <a:prstGeom prst="roundRect">
            <a:avLst>
              <a:gd name="adj" fmla="val 1133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3" name="Image 1" descr="/home/user/Mixed-astigmatism-calculator/presentation/assets/lenticule-form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51600" y="4673600"/>
            <a:ext cx="5207000" cy="165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Без очков пациенты стали видеть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2 раза лучше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7493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2667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Острота зрения без очков (НКОЗ)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60400" y="2286000"/>
          <a:ext cx="6985000" cy="393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5"/>
          <p:cNvSpPr/>
          <p:nvPr/>
        </p:nvSpPr>
        <p:spPr>
          <a:xfrm>
            <a:off x="8102600" y="1587500"/>
            <a:ext cx="3683000" cy="2349500"/>
          </a:xfrm>
          <a:prstGeom prst="roundRect">
            <a:avLst>
              <a:gd name="adj" fmla="val 9189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56600" y="18415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SMILE, 3 месяца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356600" y="2349500"/>
            <a:ext cx="317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0,88</a:t>
            </a:r>
            <a:endParaRPr lang="en-US" sz="5500" dirty="0"/>
          </a:p>
        </p:txBody>
      </p:sp>
      <p:sp>
        <p:nvSpPr>
          <p:cNvPr id="11" name="Text 8"/>
          <p:cNvSpPr/>
          <p:nvPr/>
        </p:nvSpPr>
        <p:spPr>
          <a:xfrm>
            <a:off x="8356600" y="3175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было 0,34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02600" y="4102100"/>
            <a:ext cx="3683000" cy="2349500"/>
          </a:xfrm>
          <a:prstGeom prst="roundRect">
            <a:avLst>
              <a:gd name="adj" fmla="val 91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56600" y="4356100"/>
            <a:ext cx="14605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Через 1 сутки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356600" y="48641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0,73 / 0,54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8356600" y="55880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после SMILE зрение восстанавливается быстрее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Зрение в очках не ухудшилось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ни в одной группе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7493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2667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Острота зрения в очках (МКОЗ)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60400" y="2286000"/>
          <a:ext cx="6985000" cy="393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5"/>
          <p:cNvSpPr/>
          <p:nvPr/>
        </p:nvSpPr>
        <p:spPr>
          <a:xfrm>
            <a:off x="8102600" y="1587500"/>
            <a:ext cx="3683000" cy="2349500"/>
          </a:xfrm>
          <a:prstGeom prst="roundRect">
            <a:avLst>
              <a:gd name="adj" fmla="val 9189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56600" y="1841500"/>
            <a:ext cx="20955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Индекс безопасности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356600" y="2349500"/>
            <a:ext cx="317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1,03</a:t>
            </a:r>
            <a:endParaRPr lang="en-US" sz="5500" dirty="0"/>
          </a:p>
        </p:txBody>
      </p:sp>
      <p:sp>
        <p:nvSpPr>
          <p:cNvPr id="11" name="Text 8"/>
          <p:cNvSpPr/>
          <p:nvPr/>
        </p:nvSpPr>
        <p:spPr>
          <a:xfrm>
            <a:off x="8356600" y="3175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02600" y="4102100"/>
            <a:ext cx="3683000" cy="2349500"/>
          </a:xfrm>
          <a:prstGeom prst="roundRect">
            <a:avLst>
              <a:gd name="adj" fmla="val 91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56600" y="4356100"/>
            <a:ext cx="20955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Индекс безопасности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356600" y="4864100"/>
            <a:ext cx="317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1,02</a:t>
            </a:r>
            <a:endParaRPr lang="en-US" sz="5500" dirty="0"/>
          </a:p>
        </p:txBody>
      </p:sp>
      <p:sp>
        <p:nvSpPr>
          <p:cNvPr id="15" name="Text 12"/>
          <p:cNvSpPr/>
          <p:nvPr/>
        </p:nvSpPr>
        <p:spPr>
          <a:xfrm>
            <a:off x="8356600" y="56896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ФемтоЛАЗИК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Сфера после операции в обеих группах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остаётся небольшой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7493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2540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Сферический компонент, D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60400" y="2286000"/>
          <a:ext cx="6985000" cy="393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5"/>
          <p:cNvSpPr/>
          <p:nvPr/>
        </p:nvSpPr>
        <p:spPr>
          <a:xfrm>
            <a:off x="8102600" y="1587500"/>
            <a:ext cx="3683000" cy="2349500"/>
          </a:xfrm>
          <a:prstGeom prst="roundRect">
            <a:avLst>
              <a:gd name="adj" fmla="val 91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56600" y="1841500"/>
            <a:ext cx="14605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356600" y="2349500"/>
            <a:ext cx="317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+0,62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8356600" y="3175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через 6 мес. (было +0,54)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02600" y="4102100"/>
            <a:ext cx="3683000" cy="2349500"/>
          </a:xfrm>
          <a:prstGeom prst="roundRect">
            <a:avLst>
              <a:gd name="adj" fmla="val 91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56600" y="4356100"/>
            <a:ext cx="14605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ФемтоЛАЗИК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356600" y="4864100"/>
            <a:ext cx="317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+0,31</a:t>
            </a:r>
            <a:endParaRPr lang="en-US" sz="5000" dirty="0"/>
          </a:p>
        </p:txBody>
      </p:sp>
      <p:sp>
        <p:nvSpPr>
          <p:cNvPr id="15" name="Text 12"/>
          <p:cNvSpPr/>
          <p:nvPr/>
        </p:nvSpPr>
        <p:spPr>
          <a:xfrm>
            <a:off x="8356600" y="56896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через 6 мес. (было +1,25)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Цилиндр после SMILE снизился сильнее,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чем после ФемтоЛАЗИК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6223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2667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Цилиндрический компонент, D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60400" y="2286000"/>
          <a:ext cx="5715000" cy="393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5"/>
          <p:cNvSpPr/>
          <p:nvPr/>
        </p:nvSpPr>
        <p:spPr>
          <a:xfrm>
            <a:off x="6807200" y="1587500"/>
            <a:ext cx="2413000" cy="2540000"/>
          </a:xfrm>
          <a:prstGeom prst="roundRect">
            <a:avLst>
              <a:gd name="adj" fmla="val 8947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35800" y="18161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SMILE · 6 месяцев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035800" y="2286000"/>
            <a:ext cx="2095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−0,62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7035800" y="29845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дптр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35800" y="33655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было −3,07</a:t>
            </a:r>
            <a:endParaRPr lang="en-US" sz="1300" dirty="0"/>
          </a:p>
        </p:txBody>
      </p:sp>
      <p:pic>
        <p:nvPicPr>
          <p:cNvPr id="13" name="Image 0" descr="/home/user/Mixed-astigmatism-calculator/presentation/assets/3d-len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67500" y="4381500"/>
            <a:ext cx="2667000" cy="15875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398000" y="1587500"/>
            <a:ext cx="2387600" cy="1524000"/>
          </a:xfrm>
          <a:prstGeom prst="roundRect">
            <a:avLst>
              <a:gd name="adj" fmla="val 141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601200" y="1765300"/>
            <a:ext cx="203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сутки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601200" y="2032000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−0,51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9601200" y="26670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ФемтоЛАЗИК −1,13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398000" y="3257550"/>
            <a:ext cx="2387600" cy="1524000"/>
          </a:xfrm>
          <a:prstGeom prst="roundRect">
            <a:avLst>
              <a:gd name="adj" fmla="val 141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601200" y="3435350"/>
            <a:ext cx="203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месяца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601200" y="3702050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−0,44</a:t>
            </a:r>
            <a:endParaRPr lang="en-US" sz="3400" dirty="0"/>
          </a:p>
        </p:txBody>
      </p:sp>
      <p:sp>
        <p:nvSpPr>
          <p:cNvPr id="21" name="Text 17"/>
          <p:cNvSpPr/>
          <p:nvPr/>
        </p:nvSpPr>
        <p:spPr>
          <a:xfrm>
            <a:off x="9601200" y="433705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ФемтоЛАЗИК −1,19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398000" y="4927600"/>
            <a:ext cx="2387600" cy="1524000"/>
          </a:xfrm>
          <a:prstGeom prst="roundRect">
            <a:avLst>
              <a:gd name="adj" fmla="val 141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9601200" y="5105400"/>
            <a:ext cx="203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месяцев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601200" y="5372100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−0,62</a:t>
            </a:r>
            <a:endParaRPr lang="en-US" sz="3400" dirty="0"/>
          </a:p>
        </p:txBody>
      </p:sp>
      <p:sp>
        <p:nvSpPr>
          <p:cNvPr id="25" name="Text 21"/>
          <p:cNvSpPr/>
          <p:nvPr/>
        </p:nvSpPr>
        <p:spPr>
          <a:xfrm>
            <a:off x="9601200" y="60071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ФемтоЛАЗИК −1,25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изменилась роговица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через 6 месяцев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3708400" cy="4864100"/>
          </a:xfrm>
          <a:prstGeom prst="roundRect">
            <a:avLst>
              <a:gd name="adj" fmla="val 582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35000" y="18415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Толщина, мкм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33400" y="2286000"/>
          <a:ext cx="34544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/>
          <p:nvPr/>
        </p:nvSpPr>
        <p:spPr>
          <a:xfrm>
            <a:off x="635000" y="552450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−53 / −36 мкм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35000" y="6032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изменение: SMILE / ФемтоЛАЗИК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67200" y="1587500"/>
            <a:ext cx="3708400" cy="4864100"/>
          </a:xfrm>
          <a:prstGeom prst="roundRect">
            <a:avLst>
              <a:gd name="adj" fmla="val 582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95800" y="18415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K1, D</a:t>
            </a:r>
            <a:endParaRPr lang="en-US" sz="105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4394200" y="2286000"/>
          <a:ext cx="34544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9"/>
          <p:cNvSpPr/>
          <p:nvPr/>
        </p:nvSpPr>
        <p:spPr>
          <a:xfrm>
            <a:off x="4495800" y="552450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−0,80 / +0,14 D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495800" y="6032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изменение: SMILE / ФемтоЛАЗИК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28000" y="1587500"/>
            <a:ext cx="3708400" cy="4864100"/>
          </a:xfrm>
          <a:prstGeom prst="roundRect">
            <a:avLst>
              <a:gd name="adj" fmla="val 582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356600" y="18415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K2, D</a:t>
            </a:r>
            <a:endParaRPr lang="en-US" sz="1050" dirty="0"/>
          </a:p>
        </p:txBody>
      </p:sp>
      <p:graphicFrame>
        <p:nvGraphicFramePr>
          <p:cNvPr id="17" name="Chart 2" descr=""/>
          <p:cNvGraphicFramePr/>
          <p:nvPr/>
        </p:nvGraphicFramePr>
        <p:xfrm>
          <a:off x="8255000" y="2286000"/>
          <a:ext cx="34544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Text 13"/>
          <p:cNvSpPr/>
          <p:nvPr/>
        </p:nvSpPr>
        <p:spPr>
          <a:xfrm>
            <a:off x="8356600" y="552450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−2,66 / −1,93 D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356600" y="6032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изменение: SMILE / ФемтоЛАЗИК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 SMILE хорошо совпал с планом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5588000" cy="4864100"/>
          </a:xfrm>
          <a:prstGeom prst="roundRect">
            <a:avLst>
              <a:gd name="adj" fmla="val 443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41500"/>
            <a:ext cx="2413000" cy="279400"/>
          </a:xfrm>
          <a:prstGeom prst="roundRect">
            <a:avLst>
              <a:gd name="adj" fmla="val 50000"/>
            </a:avLst>
          </a:prstGeom>
          <a:solidFill>
            <a:srgbClr val="EEF2FD"/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SMILE · отклонение от плана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60400" y="2286000"/>
          <a:ext cx="2540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/>
          <p:nvPr/>
        </p:nvSpPr>
        <p:spPr>
          <a:xfrm>
            <a:off x="660400" y="3302000"/>
            <a:ext cx="25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74%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60400" y="5016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глаз в пределах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±0,5 D</a:t>
            </a:r>
            <a:endParaRPr lang="en-US" sz="15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3327400" y="2286000"/>
          <a:ext cx="2540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3327400" y="3302000"/>
            <a:ext cx="25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88%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3327400" y="5016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глаз в пределах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±1,0 D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197600" y="1587500"/>
            <a:ext cx="5588000" cy="4864100"/>
          </a:xfrm>
          <a:prstGeom prst="roundRect">
            <a:avLst>
              <a:gd name="adj" fmla="val 4439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451600" y="1841500"/>
            <a:ext cx="2286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  <p:txBody>
          <a:bodyPr wrap="square" lIns="0" tIns="1940" rIns="194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Связь плана и результата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51600" y="2413000"/>
            <a:ext cx="50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R² = 0,65</a:t>
            </a:r>
            <a:endParaRPr lang="en-US" sz="7500" dirty="0"/>
          </a:p>
        </p:txBody>
      </p:sp>
      <p:sp>
        <p:nvSpPr>
          <p:cNvPr id="16" name="Text 12"/>
          <p:cNvSpPr/>
          <p:nvPr/>
        </p:nvSpPr>
        <p:spPr>
          <a:xfrm>
            <a:off x="6451600" y="3937000"/>
            <a:ext cx="495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Чем больше запланированная коррекция, тем больше и достигнутая: точки на графике лежат близко к линии «план = результат»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Методика защищена патентом,</a:t>
            </a: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 расчёт — программой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3683000" cy="4864100"/>
          </a:xfrm>
          <a:prstGeom prst="roundRect">
            <a:avLst>
              <a:gd name="adj" fmla="val 586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6" name="Image 0" descr="/home/user/Mixed-astigmatism-calculator/presentation/assets/paten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0400" y="1841500"/>
            <a:ext cx="3175000" cy="2984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400" y="4953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Патент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№ 2862856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0400" y="561975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«Способ коррекции смешанного астигматизма с помощью лентикулярной технологии»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4500" y="1587500"/>
            <a:ext cx="3683000" cy="4864100"/>
          </a:xfrm>
          <a:prstGeom prst="roundRect">
            <a:avLst>
              <a:gd name="adj" fmla="val 5862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pic>
        <p:nvPicPr>
          <p:cNvPr id="10" name="Image 1" descr="/home/user/Mixed-astigmatism-calculator/presentation/assets/certificat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08500" y="1841500"/>
            <a:ext cx="3175000" cy="2984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8500" y="4953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Программа для ЭВМ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№ 2026686768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08500" y="561975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«Калькулятор транспозиции смешанного астигматизма для лентикулярной технологии»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02600" y="1587500"/>
            <a:ext cx="3683000" cy="4864100"/>
          </a:xfrm>
          <a:prstGeom prst="roundRect">
            <a:avLst>
              <a:gd name="adj" fmla="val 586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14" name="Image 2" descr="/home/user/Mixed-astigmatism-calculator/presentation/assets/articl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56600" y="1841500"/>
            <a:ext cx="3175000" cy="2984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56600" y="4953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Статья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 первыми результатами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356600" y="561975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клинико-функциональные результаты коррекции смешанного астигматизма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42900"/>
            <a:ext cx="850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Выводы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017000" y="393700"/>
            <a:ext cx="276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РосУниМед · МНТК «Микрохирургия глаза»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0600" y="660400"/>
            <a:ext cx="635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DD7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 / 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400" y="1587500"/>
            <a:ext cx="5588000" cy="2355850"/>
          </a:xfrm>
          <a:prstGeom prst="roundRect">
            <a:avLst>
              <a:gd name="adj" fmla="val 916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0400" y="1803400"/>
            <a:ext cx="101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76400" y="18415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Математическая модель показала, что лентикула при смешанном астигматизме имеет седловидную (торическую) форму. Это научно обосновывает протокол транспозиции.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7600" y="1587500"/>
            <a:ext cx="5588000" cy="2355850"/>
          </a:xfrm>
          <a:prstGeom prst="roundRect">
            <a:avLst>
              <a:gd name="adj" fmla="val 916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51600" y="1803400"/>
            <a:ext cx="101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467600" y="18415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НКОЗ выросла в обеих группах: SMILE 0,34 → 0,88, ФемтоЛАЗИК 0,32 → 0,75. После SMILE зрение восстанавливается быстрее и полнее. МКОЗ осталась высокой: 0,91 → 1,0 и 0,87 → 0,95.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06400" y="4095750"/>
            <a:ext cx="5588000" cy="2355850"/>
          </a:xfrm>
          <a:prstGeom prst="roundRect">
            <a:avLst>
              <a:gd name="adj" fmla="val 916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0400" y="4311650"/>
            <a:ext cx="101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676400" y="434975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Сфера приблизилась к нулю: +0,54 → +0,37 D и +1,25 → +0,31 D. Цилиндр снизился: −3,07 → −0,62 D и −3,24 → −1,25 D — после SMILE остаточный цилиндр втрое меньше.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7600" y="4095750"/>
            <a:ext cx="5588000" cy="2355850"/>
          </a:xfrm>
          <a:prstGeom prst="roundRect">
            <a:avLst>
              <a:gd name="adj" fmla="val 9164"/>
            </a:avLst>
          </a:prstGeom>
          <a:solidFill>
            <a:srgbClr val="1E3FE0"/>
          </a:solidFill>
          <a:ln w="12700">
            <a:solidFill>
              <a:srgbClr val="1E3FE0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51600" y="4311650"/>
            <a:ext cx="101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467600" y="434975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Лентикулярная технология эффективна, безопасна и перспективна при смешанном астигматизме. Нужны новые клинические данные и статистический анализ.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51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101600" dir="5400000">
              <a:srgbClr val="1736D9">
                <a:alpha val="10000"/>
              </a:srgbClr>
            </a:outerShdw>
          </a:effectLst>
        </p:spPr>
      </p:sp>
      <p:pic>
        <p:nvPicPr>
          <p:cNvPr id="3" name="Image 0" descr="/home/user/Mixed-astigmatism-calculator/presentation/assets/3d-wa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0000" y="1270000"/>
            <a:ext cx="6096000" cy="3695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9000" y="762000"/>
            <a:ext cx="571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Катаракта 2026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Москва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89000" y="2286000"/>
            <a:ext cx="571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Спасибо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 </a:t>
            </a:r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внимание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89000" y="45720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1A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Никитина Анастасия Евгеньевна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9000" y="48895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36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anastasianik2403@gmail.com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Лентикулярная коррекция смешанного астигматизма</dc:title>
  <dc:subject>PptxGenJS Presentation</dc:subject>
  <dc:creator>Никитина А.Е.</dc:creator>
  <cp:lastModifiedBy>Никитина А.Е.</cp:lastModifiedBy>
  <cp:revision>1</cp:revision>
  <dcterms:created xsi:type="dcterms:W3CDTF">2026-10-13T19:30:40Z</dcterms:created>
  <dcterms:modified xsi:type="dcterms:W3CDTF">2026-10-13T19:30:40Z</dcterms:modified>
</cp:coreProperties>
</file>