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Азара Д.Т. и др., 2025; Shing E. et al., 2025; Клокова О.А. и др.,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Ganesh S. et al., 2024; Mehta-Hurt D. et al., ARVO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исследования.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группы по 20 пациентов (40 глаз).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M ± SD — значения представлены как среднее ± стандартное отклонение.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Стандартные и специальные методы диагностики.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Протокол транспозиции, 5 шагов.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Протоколы VisuMax (OD, OS) и вид во время операции.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Патент, калькулятор, свидетельство о регистрации программы для ЭВМ, публикация.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Критерии включения и исключения.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Параметры операции SMILE.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Параметры операции ФемтоЛАЗИК.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Математическое моделирование лентикулы. T_min ≈ 20 мкм — константа устройства.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Динамика НКОЗ и МКОЗ.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Динамика сферического и цилиндрического компонентов, пахиметрия и кератометрия.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Эффективность и безопасность.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Прогнозируемость.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Благодарю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51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5500" y="698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</a:t>
            </a:r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5500" y="1143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26-й Всероссийский научно-практический конгресс с международным участием</a:t>
            </a:r>
            <a:endParaRPr lang="en-US" sz="10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Современные технологии катарактальной, рефракционной и роговичной хирургии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55000" y="7493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2–4 сентября 2026</a:t>
            </a:r>
            <a:endParaRPr lang="en-US" sz="1050" dirty="0"/>
          </a:p>
          <a:p>
            <a:pPr algn="r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Москва, Конгресс-центр ЦМТ</a:t>
            </a:r>
            <a:endParaRPr lang="en-US" sz="1050" dirty="0"/>
          </a:p>
        </p:txBody>
      </p:sp>
      <p:pic>
        <p:nvPicPr>
          <p:cNvPr id="6" name="Image 0" descr="/home/user/Mixed-astigmatism-calculator/presentation/assets/3d-wa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93000" y="1587500"/>
            <a:ext cx="4699000" cy="2851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5500" y="19050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Современный подход к хирургической коррекции 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смешанного астигматизма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 применением фемтосекундной лентикулярной технологии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5500" y="4572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Докладчик: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Никитина Анастасия Евгеньевна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Соавторы: д.м.н. Костенев С.В., к.м.н. Макаров Р.А., Садрутдинов Р.Ш.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5500" y="5588000"/>
            <a:ext cx="952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ФГБОУ ВО «Российский университет медицины» Минздрава России,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ФГАУ «НМИЦ «МНТК «Микрохирургия глаза» им. акад. С.Н. Федорова» Минздрава России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Актуальность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206500"/>
            <a:ext cx="11379200" cy="1206500"/>
          </a:xfrm>
          <a:prstGeom prst="roundRect">
            <a:avLst>
              <a:gd name="adj" fmla="val 1789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397000"/>
            <a:ext cx="10871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  Астигматизм — мультифакторное состояние с выраженным наследственным компонентом.</a:t>
            </a:r>
            <a:endParaRPr lang="en-US" sz="13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  Полногеномные исследования (Shing E. et al., 2024) выявили свыше 50 полиморфизмов в 10 генах, включая локус PDGFRA, регулирующий кривизну роговицы.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6400" y="26035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Хирургическая коррекция смешанного астигматизма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6400" y="3048000"/>
            <a:ext cx="3810000" cy="2413000"/>
          </a:xfrm>
          <a:prstGeom prst="roundRect">
            <a:avLst>
              <a:gd name="adj" fmla="val 894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0400" y="3302000"/>
            <a:ext cx="270256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Эксимерлазерная технология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0400" y="3810000"/>
            <a:ext cx="342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ФемтоЛАЗИК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60400" y="4445000"/>
            <a:ext cx="3365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Современный </a:t>
            </a: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«золотой»</a:t>
            </a: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стандарт в коррекции смешанного астигматизма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19600" y="3048000"/>
            <a:ext cx="3810000" cy="2413000"/>
          </a:xfrm>
          <a:prstGeom prst="roundRect">
            <a:avLst>
              <a:gd name="adj" fmla="val 8947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3600" y="3302000"/>
            <a:ext cx="256032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Лентикулярная технология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73600" y="3810000"/>
            <a:ext cx="330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?</a:t>
            </a:r>
            <a:endParaRPr lang="en-US" sz="11000" dirty="0"/>
          </a:p>
        </p:txBody>
      </p:sp>
      <p:sp>
        <p:nvSpPr>
          <p:cNvPr id="15" name="Shape 13"/>
          <p:cNvSpPr/>
          <p:nvPr/>
        </p:nvSpPr>
        <p:spPr>
          <a:xfrm>
            <a:off x="8432800" y="2603500"/>
            <a:ext cx="3352800" cy="2857500"/>
          </a:xfrm>
          <a:prstGeom prst="roundRect">
            <a:avLst>
              <a:gd name="adj" fmla="val 755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6" name="Image 0" descr="/home/user/Mixed-astigmatism-calculator/presentation/assets/orig/eye-secti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85200" y="2755900"/>
            <a:ext cx="3048000" cy="2552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06400" y="5619750"/>
            <a:ext cx="1137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Азара Д.Т., Алио Х.Л., Кортины М.С., Халлака Д.А. Хирургическое лечение астигматизма. Москва: ГЭОТАР-Медиа, 2025. – 272 с. doi: 10.33029/9704-8200-1-STA-2025-1-272;</a:t>
            </a:r>
            <a:endParaRPr lang="en-US" sz="7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Shing E., Kam K.W., Zaabaar E., Zhang X.J., Young A.L., Pang C.P., Tham C.C., Yam J.C. Heritability and Genetic Factors of Astigmatism and Corneal Curvature: A Systematic Review and Meta-analysis. American Journal of Ophthalmology. 2025;269:161–171. doi: 10.1016/j.ajo.2024.08.019.</a:t>
            </a:r>
            <a:endParaRPr lang="en-US" sz="7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Клокова О.А., Дамашаускас Р.О., Качаров А.И., Пискунов А.В. Гейденрих М.С., Дьяконова Е.И. Ранние клинико-функциональные результаты коррекции смешанного астигматизма в зависимости от его степени с помощью высокочастотного эксимерного лазера Schwind Amaris 1050RS. Офтальмология. 2025;22(2):295–304.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Актуальность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206500"/>
            <a:ext cx="6858000" cy="2540000"/>
          </a:xfrm>
          <a:prstGeom prst="roundRect">
            <a:avLst>
              <a:gd name="adj" fmla="val 85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460500"/>
            <a:ext cx="156464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VisuMax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0400" y="19050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Пилотное исследование на платформе </a:t>
            </a:r>
            <a:pPr algn="l"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VisuMax</a:t>
            </a:r>
            <a:pPr algn="l"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(Carl Zeiss Meditec AG) показало возможность коррекции смешанного астигматизма методом лентикулярной хирургии (Ganesh S. et al., 2024), однако методика пока не применяется в стандартной практике.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06400" y="3911600"/>
            <a:ext cx="6858000" cy="2540000"/>
          </a:xfrm>
          <a:prstGeom prst="roundRect">
            <a:avLst>
              <a:gd name="adj" fmla="val 8500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0400" y="4165600"/>
            <a:ext cx="128016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Elita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0400" y="46101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Экспериментальное исследование ex-vivo (11 свиных глаз) на платформе </a:t>
            </a:r>
            <a:pPr algn="l"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BFD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Elita</a:t>
            </a:r>
            <a:pPr algn="l"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Johnson and Johnson Surgical Vision, Inc. (США) свидетельствуют о технической возможности коррекции смешанного астигматизма и гиперметропии.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67600" y="1206500"/>
            <a:ext cx="2095500" cy="3175000"/>
          </a:xfrm>
          <a:prstGeom prst="roundRect">
            <a:avLst>
              <a:gd name="adj" fmla="val 103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2" name="Image 0" descr="/home/user/Mixed-astigmatism-calculator/presentation/assets/orig/ganes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94600" y="1333500"/>
            <a:ext cx="1841500" cy="2921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715500" y="1206500"/>
            <a:ext cx="2070100" cy="3175000"/>
          </a:xfrm>
          <a:prstGeom prst="roundRect">
            <a:avLst>
              <a:gd name="adj" fmla="val 1042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4" name="Image 1" descr="/home/user/Mixed-astigmatism-calculator/presentation/assets/orig/elit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842500" y="1333500"/>
            <a:ext cx="1816100" cy="2921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467600" y="4546600"/>
            <a:ext cx="4318000" cy="1905000"/>
          </a:xfrm>
          <a:prstGeom prst="roundRect">
            <a:avLst>
              <a:gd name="adj" fmla="val 1133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6" name="Image 2" descr="/home/user/Mixed-astigmatism-calculator/presentation/assets/orig/icons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94600" y="4673600"/>
            <a:ext cx="4064000" cy="165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51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55000" y="6985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89000" y="889000"/>
            <a:ext cx="99568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Цель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89000" y="1778000"/>
            <a:ext cx="889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Разработать </a:t>
            </a:r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лентикулярную технологию</a:t>
            </a:r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для коррекции смешанного астигматизма</a:t>
            </a:r>
            <a:endParaRPr lang="en-US" sz="3400" dirty="0"/>
          </a:p>
        </p:txBody>
      </p:sp>
      <p:pic>
        <p:nvPicPr>
          <p:cNvPr id="6" name="Image 0" descr="/home/user/Mixed-astigmatism-calculator/presentation/assets/orig/eye-forcep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12000" y="3937000"/>
            <a:ext cx="44450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Материалы и методы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206500"/>
            <a:ext cx="5588000" cy="2413000"/>
          </a:xfrm>
          <a:prstGeom prst="roundRect">
            <a:avLst>
              <a:gd name="adj" fmla="val 8947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460500"/>
            <a:ext cx="113792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ГРУППА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0400" y="1905000"/>
            <a:ext cx="508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Лентикулярная технология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(SMILE)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0400" y="26670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Фемтосекундная лазерная установка VisuMax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(Carl Zeiss Meditec AG, Германия)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0400" y="320675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 пациентов (40 глаз)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7600" y="1206500"/>
            <a:ext cx="5588000" cy="2413000"/>
          </a:xfrm>
          <a:prstGeom prst="roundRect">
            <a:avLst>
              <a:gd name="adj" fmla="val 894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1600" y="1460500"/>
            <a:ext cx="113792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ГРУППА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51600" y="1905000"/>
            <a:ext cx="508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Эксимерлазерная технология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(ФемтоЛАЗИК)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51600" y="2667000"/>
            <a:ext cx="520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Интегрированная платформе WaveLight Refractive Suite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(WaveLight FS200 + WaveLight EX500, Alcon Laboratories Inc., США)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51600" y="320675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 пациентов (40 глаз)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06400" y="3771900"/>
            <a:ext cx="11379200" cy="508000"/>
          </a:xfrm>
          <a:prstGeom prst="roundRect">
            <a:avLst>
              <a:gd name="adj" fmla="val 425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6400" y="3771900"/>
            <a:ext cx="1137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Наблюдение проводилось до операции и в стандартные сроки – </a:t>
            </a:r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сутки, 3 и 6 месяцев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6400" y="4432300"/>
            <a:ext cx="2730500" cy="2019300"/>
          </a:xfrm>
          <a:prstGeom prst="roundRect">
            <a:avLst>
              <a:gd name="adj" fmla="val 1069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8" name="Image 0" descr="/home/user/Mixed-astigmatism-calculator/presentation/assets/orig/visumax-dar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8000" y="4533900"/>
            <a:ext cx="2527300" cy="18161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289300" y="4432300"/>
            <a:ext cx="2730500" cy="2019300"/>
          </a:xfrm>
          <a:prstGeom prst="roundRect">
            <a:avLst>
              <a:gd name="adj" fmla="val 1069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20" name="Image 1" descr="/home/user/Mixed-astigmatism-calculator/presentation/assets/orig/lenticule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90900" y="4533900"/>
            <a:ext cx="2527300" cy="18161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172200" y="4432300"/>
            <a:ext cx="2730500" cy="2019300"/>
          </a:xfrm>
          <a:prstGeom prst="roundRect">
            <a:avLst>
              <a:gd name="adj" fmla="val 1069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22" name="Image 2" descr="/home/user/Mixed-astigmatism-calculator/presentation/assets/orig/wavelight-labeled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73800" y="4533900"/>
            <a:ext cx="2527300" cy="18161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055100" y="4432300"/>
            <a:ext cx="2730500" cy="2019300"/>
          </a:xfrm>
          <a:prstGeom prst="roundRect">
            <a:avLst>
              <a:gd name="adj" fmla="val 1069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24" name="Image 3" descr="/home/user/Mixed-astigmatism-calculator/presentation/assets/orig/flap-view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56700" y="4533900"/>
            <a:ext cx="2527300" cy="181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Диапазон рефракционных значений в исследуемых группах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206500"/>
            <a:ext cx="5588000" cy="3365500"/>
          </a:xfrm>
          <a:prstGeom prst="roundRect">
            <a:avLst>
              <a:gd name="adj" fmla="val 64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460500"/>
            <a:ext cx="398272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Лентикулярная технология (SMILE)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905000"/>
          <a:ext cx="5080000" cy="914400"/>
        </p:xfrm>
        <a:graphic>
          <a:graphicData uri="http://schemas.openxmlformats.org/drawingml/2006/table">
            <a:tbl>
              <a:tblPr/>
              <a:tblGrid>
                <a:gridCol w="2095500"/>
                <a:gridCol w="2984500"/>
              </a:tblGrid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Сферический компонент (Sph):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от +0,25 до +1,75 D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(M ± SD +0,54 ± 0,39)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Цилиндрический компонент (Cyl):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от −2,00 до −5,00 D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(M ± SD −3,07 ± 0,93)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Кератометрия, D: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K1 41,58 D, K2 44,44 D,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 AVE 43,00 D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Пахиметрия, мкм: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от 494 до 615 мкм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(M ± SD 554,1 ± 36,2)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97600" y="1206500"/>
            <a:ext cx="5588000" cy="3365500"/>
          </a:xfrm>
          <a:prstGeom prst="roundRect">
            <a:avLst>
              <a:gd name="adj" fmla="val 64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51600" y="1460500"/>
            <a:ext cx="398272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Эксимерлазерная технология (ФемтоЛАЗИК)</a:t>
            </a:r>
            <a:endParaRPr lang="en-US" sz="10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1600" y="1905000"/>
          <a:ext cx="5080000" cy="914400"/>
        </p:xfrm>
        <a:graphic>
          <a:graphicData uri="http://schemas.openxmlformats.org/drawingml/2006/table">
            <a:tbl>
              <a:tblPr/>
              <a:tblGrid>
                <a:gridCol w="2095500"/>
                <a:gridCol w="2984500"/>
              </a:tblGrid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Сферический компонент (Sph):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от +0,25 до +3,00 D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(M ± SD +1,25 ± 0,81)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Цилиндрический компонент (Cyl):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от −1,25 до −6,00 D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(M ± SD −3,24 ± 2,03)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Кератометрия, D: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K1 41,69 D, K2 44,76 D,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 AVE 43,22 D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Пахиметрия, мкм: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от 483 до 596 мкм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(M ± SD 537,1 ± 30,8)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556000" y="4724400"/>
            <a:ext cx="5080000" cy="1727200"/>
          </a:xfrm>
          <a:prstGeom prst="roundRect">
            <a:avLst>
              <a:gd name="adj" fmla="val 125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2" name="Image 0" descr="/home/user/Mixed-astigmatism-calculator/presentation/assets/orig/demographic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44900" y="4813300"/>
            <a:ext cx="4902200" cy="154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6400" y="59055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* M ± SD Значения представлены как среднее ± стандартное отклонение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Методы диагностики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206500"/>
            <a:ext cx="5588000" cy="3302000"/>
          </a:xfrm>
          <a:prstGeom prst="roundRect">
            <a:avLst>
              <a:gd name="adj" fmla="val 653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460500"/>
            <a:ext cx="298704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Стандартные методы диагностики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0400" y="1905000"/>
            <a:ext cx="50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Визометрия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НКОЗ и МКОЗ в естественных условиях и при медикаментозном мидриазе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Рефрактометрия, кератометрия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естественных условиях и при медикаментозном мидриазе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Тонометрия, биометрия, периметрия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Биомикроскопия и офтальмоскопия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7600" y="1206500"/>
            <a:ext cx="5588000" cy="3302000"/>
          </a:xfrm>
          <a:prstGeom prst="roundRect">
            <a:avLst>
              <a:gd name="adj" fmla="val 6538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1600" y="1460500"/>
            <a:ext cx="298704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Специальные методы диагностики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51600" y="1905000"/>
            <a:ext cx="50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FD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Кератотопография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Pentacam AXL (Oculus, Германия)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FD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Анализ биомеханических свойств роговицы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Corvis ST (Oculus, Германия)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FD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Аберрометрия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KR-1W (Topcon, Япония)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6400" y="4673600"/>
            <a:ext cx="1905000" cy="1778000"/>
          </a:xfrm>
          <a:prstGeom prst="roundRect">
            <a:avLst>
              <a:gd name="adj" fmla="val 1214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2" name="Image 0" descr="/home/user/Mixed-astigmatism-calculator/presentation/assets/orig/chart-sivtsev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5300" y="4762500"/>
            <a:ext cx="1727200" cy="16002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463800" y="4673600"/>
            <a:ext cx="2667000" cy="1778000"/>
          </a:xfrm>
          <a:prstGeom prst="roundRect">
            <a:avLst>
              <a:gd name="adj" fmla="val 1214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4" name="Image 1" descr="/home/user/Mixed-astigmatism-calculator/presentation/assets/orig/autoref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52700" y="4762500"/>
            <a:ext cx="2489200" cy="1600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83200" y="4673600"/>
            <a:ext cx="2667000" cy="1778000"/>
          </a:xfrm>
          <a:prstGeom prst="roundRect">
            <a:avLst>
              <a:gd name="adj" fmla="val 1214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6" name="Image 2" descr="/home/user/Mixed-astigmatism-calculator/presentation/assets/orig/slitlamp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72100" y="4762500"/>
            <a:ext cx="2489200" cy="16002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02600" y="4673600"/>
            <a:ext cx="3683000" cy="1778000"/>
          </a:xfrm>
          <a:prstGeom prst="roundRect">
            <a:avLst>
              <a:gd name="adj" fmla="val 1214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8" name="Image 3" descr="/home/user/Mixed-astigmatism-calculator/presentation/assets/orig/pentacam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91500" y="4762500"/>
            <a:ext cx="3505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Лентикулярная технология коррекции смешанного астигматизма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/ 20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6400" y="1143000"/>
            <a:ext cx="64008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Транспозиция исходной рефракции (sph, cyl, ax) по разработанной технологии: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06400" y="1549400"/>
            <a:ext cx="2743200" cy="2095500"/>
          </a:xfrm>
          <a:prstGeom prst="roundRect">
            <a:avLst>
              <a:gd name="adj" fmla="val 103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9600" y="17145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Шаг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9600" y="2159000"/>
            <a:ext cx="241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Условия допуска: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25400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Sph ≤ +1,75D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Cyl ≥ -5D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≤ -0.75D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02000" y="1549400"/>
            <a:ext cx="2743200" cy="2095500"/>
          </a:xfrm>
          <a:prstGeom prst="roundRect">
            <a:avLst>
              <a:gd name="adj" fmla="val 103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05200" y="17145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Шаг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05200" y="2159000"/>
            <a:ext cx="241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Транспозиция сферы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05200" y="25400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SPH' = SPH + CYL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7600" y="1549400"/>
            <a:ext cx="2743200" cy="2095500"/>
          </a:xfrm>
          <a:prstGeom prst="roundRect">
            <a:avLst>
              <a:gd name="adj" fmla="val 103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7145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Шаг 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159000"/>
            <a:ext cx="241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Инверсия цилиндра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0" y="25400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CYL' = -CYL (знак +)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93200" y="1549400"/>
            <a:ext cx="2743200" cy="2095500"/>
          </a:xfrm>
          <a:prstGeom prst="roundRect">
            <a:avLst>
              <a:gd name="adj" fmla="val 103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96400" y="17145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Шаг 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96400" y="2159000"/>
            <a:ext cx="241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Коррекция оси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296400" y="25400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Ax ≤ 90° → +90°;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AX &gt; 90° → −90°.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96400" y="3175000"/>
            <a:ext cx="241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Ручная маркировка роговицы для минимизации циклоторсии (ось астигматизма)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6400" y="3797300"/>
            <a:ext cx="5715000" cy="2413000"/>
          </a:xfrm>
          <a:prstGeom prst="roundRect">
            <a:avLst>
              <a:gd name="adj" fmla="val 894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24" name="Image 0" descr="/home/user/Mixed-astigmatism-calculator/presentation/assets/orig/eye-markin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8800" y="3949700"/>
            <a:ext cx="5410200" cy="18415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58800" y="5867400"/>
            <a:ext cx="541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Маркерная разметка роговицы для контроля циклоторсии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324600" y="3797300"/>
            <a:ext cx="5461000" cy="2413000"/>
          </a:xfrm>
          <a:prstGeom prst="roundRect">
            <a:avLst>
              <a:gd name="adj" fmla="val 8947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578600" y="39624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Шаг 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578600" y="44069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Ввод полученных рефракционных данных в фемтосекундную лазерную установку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578600" y="52070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(Согласно инструкции к VisuMax®*, возможна коррекция близорукости от –0,50 дптр до –10,00 дптр и астигматизма до –5,00 дптр)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06400" y="6350000"/>
            <a:ext cx="11379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Розенблюм Ю.З. Оптометрия (подбор средств коррекции зрения). СПб.: Гиппократ; 1996.</a:t>
            </a:r>
            <a:endParaRPr lang="en-US" sz="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Гамидов Г.А., Мушкова И.А., Костенев С.В., Гамидов А.А. Способ контроля циклоторсии глазного яблока при коррекции миопического астигматизма по технологии SMILE. Офтальмология. 2020; 17(3): 351-360.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Ход операции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206500"/>
            <a:ext cx="3683000" cy="5245100"/>
          </a:xfrm>
          <a:prstGeom prst="roundRect">
            <a:avLst>
              <a:gd name="adj" fmla="val 586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6" name="Image 0" descr="/home/user/Mixed-astigmatism-calculator/presentation/assets/orig/protocol-o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3400" y="1333500"/>
            <a:ext cx="3429000" cy="4991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41800" y="1206500"/>
            <a:ext cx="3683000" cy="5245100"/>
          </a:xfrm>
          <a:prstGeom prst="roundRect">
            <a:avLst>
              <a:gd name="adj" fmla="val 586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8" name="Image 1" descr="/home/user/Mixed-astigmatism-calculator/presentation/assets/orig/protocol-o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68800" y="1333500"/>
            <a:ext cx="3429000" cy="49911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77200" y="1206500"/>
            <a:ext cx="3708400" cy="5245100"/>
          </a:xfrm>
          <a:prstGeom prst="roundRect">
            <a:avLst>
              <a:gd name="adj" fmla="val 582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0" name="Image 2" descr="/home/user/Mixed-astigmatism-calculator/presentation/assets/orig/op-view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0" y="1358900"/>
            <a:ext cx="3403600" cy="4533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0" y="6019800"/>
            <a:ext cx="340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* Оперирующий хирург – </a:t>
            </a:r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д.м.н Костенев С.В.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20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400" y="1460500"/>
            <a:ext cx="2857500" cy="4191000"/>
          </a:xfrm>
          <a:prstGeom prst="roundRect">
            <a:avLst>
              <a:gd name="adj" fmla="val 755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5" name="Image 0" descr="/home/user/Mixed-astigmatism-calculator/presentation/assets/orig/paten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6100" y="1600200"/>
            <a:ext cx="2578100" cy="391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16300" y="1460500"/>
            <a:ext cx="3302000" cy="4191000"/>
          </a:xfrm>
          <a:prstGeom prst="roundRect">
            <a:avLst>
              <a:gd name="adj" fmla="val 653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7" name="Image 1" descr="/home/user/Mixed-astigmatism-calculator/presentation/assets/orig/calculato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56000" y="1600200"/>
            <a:ext cx="3022600" cy="3911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70700" y="1460500"/>
            <a:ext cx="2857500" cy="4191000"/>
          </a:xfrm>
          <a:prstGeom prst="roundRect">
            <a:avLst>
              <a:gd name="adj" fmla="val 755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9" name="Image 2" descr="/home/user/Mixed-astigmatism-calculator/presentation/assets/orig/certificat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10400" y="1600200"/>
            <a:ext cx="2578100" cy="3911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880600" y="1460500"/>
            <a:ext cx="1905000" cy="4191000"/>
          </a:xfrm>
          <a:prstGeom prst="roundRect">
            <a:avLst>
              <a:gd name="adj" fmla="val 1133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1" name="Image 3" descr="/home/user/Mixed-astigmatism-calculator/presentation/assets/orig/article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82200" y="1562100"/>
            <a:ext cx="1701800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Критерии включения и исключения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206500"/>
            <a:ext cx="5588000" cy="5245100"/>
          </a:xfrm>
          <a:prstGeom prst="roundRect">
            <a:avLst>
              <a:gd name="adj" fmla="val 411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460500"/>
            <a:ext cx="199136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Критерии включения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0400" y="1905000"/>
            <a:ext cx="50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 Возраст 18 лет и старше</a:t>
            </a:r>
            <a:endParaRPr lang="en-US" sz="13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 Диагноз «смешанный астигматизм»</a:t>
            </a:r>
            <a:endParaRPr lang="en-US" sz="13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 Максимально корригированная острота зрения (МКОЗ) 0,3 и выше</a:t>
            </a:r>
            <a:endParaRPr lang="en-US" sz="13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 Толщина роговицы от 470 мкм и более</a:t>
            </a:r>
            <a:endParaRPr lang="en-US" sz="13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 Отсутствие признаков кератоконуса по BAD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0400" y="4826000"/>
            <a:ext cx="5080000" cy="1371600"/>
          </a:xfrm>
          <a:prstGeom prst="roundRect">
            <a:avLst>
              <a:gd name="adj" fmla="val 15741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9000" y="4984750"/>
            <a:ext cx="469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ЛЕНТИКУЛЯРНОЙ ТЕХНОЛОГИИ-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Sph ≤ +1,75D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Cyl ≥ -5D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SE ≤ -0.75D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7600" y="1206500"/>
            <a:ext cx="5588000" cy="5245100"/>
          </a:xfrm>
          <a:prstGeom prst="roundRect">
            <a:avLst>
              <a:gd name="adj" fmla="val 411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1600" y="1460500"/>
            <a:ext cx="21336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Критерии исключения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51600" y="1905000"/>
            <a:ext cx="508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 Возраст младше 18 лет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 Патология роговицы: кератоконус, дистрофии, неоваскуляризация, помутнение, рубцевание, состояние после кератопластики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 МКОЗ менее 0,3; толщина роговицы менее 470 мкм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 Ранее выполненный ЛАЗИК; глаукома (кроме ранней стадии); катаракта (кроме врождённой)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 Воспалительные и системные заболевания в стадии обострения, беременность и лактация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51600" y="5207000"/>
            <a:ext cx="5080000" cy="990600"/>
          </a:xfrm>
          <a:prstGeom prst="roundRect">
            <a:avLst>
              <a:gd name="adj" fmla="val 21795"/>
            </a:avLst>
          </a:prstGeom>
          <a:solidFill>
            <a:srgbClr val="EEF2F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80200" y="5334000"/>
            <a:ext cx="469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ЛЕНТИКУЛЯРНОЙ ТЕХНОЛОГИИ-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-Несоответствие критериям SE и рефракционным параметрам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Параметры операции: лентикулярная технология (SMILE)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20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6400" y="952500"/>
            <a:ext cx="825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Фемтосекундная лазерная установка VisuMax (Carl Zeiss Meditec AG, Германия)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6400" y="1333500"/>
            <a:ext cx="6604000" cy="5118100"/>
          </a:xfrm>
          <a:prstGeom prst="roundRect">
            <a:avLst>
              <a:gd name="adj" fmla="val 421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524000"/>
          <a:ext cx="6096000" cy="914400"/>
        </p:xfrm>
        <a:graphic>
          <a:graphicData uri="http://schemas.openxmlformats.org/drawingml/2006/table">
            <a:tbl>
              <a:tblPr/>
              <a:tblGrid>
                <a:gridCol w="2984500"/>
                <a:gridCol w="3111500"/>
              </a:tblGrid>
              <a:tr h="5291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Режим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«быстрый»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Оптическая зона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6,7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Переходная зона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0,10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Диаметр клапана (cap)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7,8–7,9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Толщина клапана (cap)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120 мкм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Угол краевого надреза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90°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Длина входного разреза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2,0–2,4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Интерфейс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«S» / «M», в зависимости от диаметра роговицы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Количество разрезов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13600" y="1333500"/>
            <a:ext cx="4572000" cy="5118100"/>
          </a:xfrm>
          <a:prstGeom prst="roundRect">
            <a:avLst>
              <a:gd name="adj" fmla="val 472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9" name="Image 0" descr="/home/user/Mixed-astigmatism-calculator/presentation/assets/orig/visumax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04100" y="1524000"/>
            <a:ext cx="4191000" cy="4737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Параметры операции: ФемтоЛАЗИК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20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6400" y="952500"/>
            <a:ext cx="1079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Интегрированная платформе WaveLight Refractive Suite (WaveLight FS200 + WaveLight EX500, Alcon Laboratories Inc., США)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6400" y="1333500"/>
            <a:ext cx="6604000" cy="5118100"/>
          </a:xfrm>
          <a:prstGeom prst="roundRect">
            <a:avLst>
              <a:gd name="adj" fmla="val 421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524000"/>
          <a:ext cx="6096000" cy="914400"/>
        </p:xfrm>
        <a:graphic>
          <a:graphicData uri="http://schemas.openxmlformats.org/drawingml/2006/table">
            <a:tbl>
              <a:tblPr/>
              <a:tblGrid>
                <a:gridCol w="2984500"/>
                <a:gridCol w="3111500"/>
              </a:tblGrid>
              <a:tr h="680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Оптическая зона абляции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6,5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Переходная зона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1,2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Толщина флэпа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110 мкм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Общая зона абляции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8,9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Номограмма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 001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Положение и ширина «ножки»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90°, 0,6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Остальные параметры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варьировали индивидуально (рефракция, пахиметрия и т.д)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13600" y="1333500"/>
            <a:ext cx="4572000" cy="2667000"/>
          </a:xfrm>
          <a:prstGeom prst="roundRect">
            <a:avLst>
              <a:gd name="adj" fmla="val 809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9" name="Image 0" descr="/home/user/Mixed-astigmatism-calculator/presentation/assets/orig/waveligh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66000" y="1485900"/>
            <a:ext cx="4267200" cy="2362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13600" y="4152900"/>
            <a:ext cx="4572000" cy="2298700"/>
          </a:xfrm>
          <a:prstGeom prst="roundRect">
            <a:avLst>
              <a:gd name="adj" fmla="val 939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1" name="Image 1" descr="/home/user/Mixed-astigmatism-calculator/presentation/assets/orig/wavelight-repor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0" y="4254500"/>
            <a:ext cx="43688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Математическое моделирование создаваемой лентикулы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143000"/>
            <a:ext cx="4445000" cy="2667000"/>
          </a:xfrm>
          <a:prstGeom prst="roundRect">
            <a:avLst>
              <a:gd name="adj" fmla="val 809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6" name="Image 0" descr="/home/user/Mixed-astigmatism-calculator/presentation/assets/orig/lent-3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8000" y="1244600"/>
            <a:ext cx="4241800" cy="2463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03800" y="1143000"/>
            <a:ext cx="3048000" cy="2667000"/>
          </a:xfrm>
          <a:prstGeom prst="roundRect">
            <a:avLst>
              <a:gd name="adj" fmla="val 809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8" name="Image 1" descr="/home/user/Mixed-astigmatism-calculator/presentation/assets/orig/lent-ma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56200" y="1295400"/>
            <a:ext cx="2743200" cy="2362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04200" y="1143000"/>
            <a:ext cx="3581400" cy="2667000"/>
          </a:xfrm>
          <a:prstGeom prst="roundRect">
            <a:avLst>
              <a:gd name="adj" fmla="val 809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0" name="Image 2" descr="/home/user/Mixed-astigmatism-calculator/presentation/assets/orig/lent-profil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05800" y="1244600"/>
            <a:ext cx="3378200" cy="2463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6400" y="3924300"/>
            <a:ext cx="11379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 основании математической модели построена геометрическая (схематическая) модель лентикулы при смешанном астигматизме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06400" y="4318000"/>
            <a:ext cx="6096000" cy="2133600"/>
          </a:xfrm>
          <a:prstGeom prst="roundRect">
            <a:avLst>
              <a:gd name="adj" fmla="val 10119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60400" y="4470400"/>
            <a:ext cx="558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Эмпирическая формула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расчёта максимальной толщины лентикулы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60400" y="50165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T(r,θ) = C + A·(r/R)²·cos(2(θ − ось))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60400" y="5524500"/>
            <a:ext cx="558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 = (Max_theory + T_min) / 2   ·   A = (Max_theory − T_min) / 2   ·   R = S / 2</a:t>
            </a:r>
            <a:endParaRPr lang="en-US" sz="10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Max_theory = (S²/6)·(2|Sph′| + |Cyl′|)   ·   T_min ≈ 20 мкм (константа устройства)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654800" y="4318000"/>
            <a:ext cx="5130800" cy="2133600"/>
          </a:xfrm>
          <a:prstGeom prst="roundRect">
            <a:avLst>
              <a:gd name="adj" fmla="val 101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7" name="Image 3" descr="/home/user/Mixed-astigmatism-calculator/presentation/assets/orig/lent-form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56400" y="4419600"/>
            <a:ext cx="4927600" cy="193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Результаты: динамика НКОЗ и МКОЗ в исследуемых группах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143000"/>
            <a:ext cx="11379200" cy="5308600"/>
          </a:xfrm>
          <a:prstGeom prst="roundRect">
            <a:avLst>
              <a:gd name="adj" fmla="val 40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6" name="Image 0" descr="/home/user/Mixed-astigmatism-calculator/presentation/assets/orig/res-acuit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" y="1333500"/>
            <a:ext cx="10998200" cy="492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Результаты: динамика рефракционного компонента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5613400" cy="3810000"/>
          </a:xfrm>
          <a:prstGeom prst="roundRect">
            <a:avLst>
              <a:gd name="adj" fmla="val 5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6" name="Image 0" descr="/home/user/Mixed-astigmatism-calculator/presentation/assets/orig/res-refracti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8800" y="1739900"/>
            <a:ext cx="5308600" cy="3505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587500"/>
            <a:ext cx="5613400" cy="3810000"/>
          </a:xfrm>
          <a:prstGeom prst="roundRect">
            <a:avLst>
              <a:gd name="adj" fmla="val 5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8" name="Image 1" descr="/home/user/Mixed-astigmatism-calculator/presentation/assets/orig/res-corne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24600" y="1739900"/>
            <a:ext cx="53086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Результаты: эффективность и безопасность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 / 20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6400" y="952500"/>
            <a:ext cx="825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(НКОЗ после операции / МКОЗ до операции)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6400" y="1333500"/>
            <a:ext cx="11379200" cy="5118100"/>
          </a:xfrm>
          <a:prstGeom prst="roundRect">
            <a:avLst>
              <a:gd name="adj" fmla="val 421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7" name="Image 0" descr="/home/user/Mixed-astigmatism-calculator/presentation/assets/orig/res-safet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" y="1524000"/>
            <a:ext cx="10998200" cy="4737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Результаты: прогнозируемость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095500" y="1143000"/>
            <a:ext cx="8001000" cy="5308600"/>
          </a:xfrm>
          <a:prstGeom prst="roundRect">
            <a:avLst>
              <a:gd name="adj" fmla="val 40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6" name="Image 0" descr="/home/user/Mixed-astigmatism-calculator/presentation/assets/orig/res-predic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47900" y="1295400"/>
            <a:ext cx="7696200" cy="5003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937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Выводы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55000" y="3937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 / 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143000"/>
            <a:ext cx="5588000" cy="2540000"/>
          </a:xfrm>
          <a:prstGeom prst="roundRect">
            <a:avLst>
              <a:gd name="adj" fmla="val 85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35000" y="1333500"/>
            <a:ext cx="76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95400" y="1358900"/>
            <a:ext cx="4508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 основании математического моделирования построена геометрическая модель лентикулы, отражающая её торическую (седловидную) форму, что подтверждает научную обоснованность разработанного и внедренного в клиническую практику протокола транспозиции;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600" y="1143000"/>
            <a:ext cx="5588000" cy="2540000"/>
          </a:xfrm>
          <a:prstGeom prst="roundRect">
            <a:avLst>
              <a:gd name="adj" fmla="val 85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6200" y="1333500"/>
            <a:ext cx="76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86600" y="1358900"/>
            <a:ext cx="4508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НКОЗ повысилась в обеих группах (в лентикулярной технологии — с 0,34 до 0,88, в группе ФемтоЛАЗИК — с 0,32 до 0,75): лентикулярная технология обеспечивает более быстрое и полное зрительное восстановление без коррекции;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МКОЗ оставалась стабильно высокой в обеих группах (с 0,91 до 1,0 и с 0,87 до 0,95 соответственно): ни одна из технологий не снижает потенциальную остроту зрения пациента;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6400" y="3835400"/>
            <a:ext cx="5588000" cy="2540000"/>
          </a:xfrm>
          <a:prstGeom prst="roundRect">
            <a:avLst>
              <a:gd name="adj" fmla="val 85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000" y="4025900"/>
            <a:ext cx="76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95400" y="4051300"/>
            <a:ext cx="4508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Сферический компонент рефракции приблизился к эмметропии в обеих группах (с +0,54 до +0,37 D в лентикулярной группе и с +1,25 до +0,31 D в группе ФемтоЛАЗИК);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Цилиндрический компонент существенно снизился в обеих группах (с −3,07 до −0,62 D и с −3,24 до −1,25 D соответственно), а остаточный цилиндр в лентикулярной группе был втрое меньше, чем в группе ФемтоЛАЗИК;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7600" y="3835400"/>
            <a:ext cx="5588000" cy="2540000"/>
          </a:xfrm>
          <a:prstGeom prst="roundRect">
            <a:avLst>
              <a:gd name="adj" fmla="val 8500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6200" y="4025900"/>
            <a:ext cx="76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086600" y="4051300"/>
            <a:ext cx="4508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Разработанная лентикулярная технология эффективна, безопасна и перспективна для внедрения при смешанном астигматизме.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Необходимы дальнейшее накопление клинических данных и их статистическая обработка.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51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55000" y="6985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2–4 сентября 2026, Москва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5500" y="1270000"/>
            <a:ext cx="1054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5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Благодарю за </a:t>
            </a:r>
            <a:pPr algn="ctr" indent="0" marL="0">
              <a:lnSpc>
                <a:spcPct val="130000"/>
              </a:lnSpc>
              <a:buNone/>
            </a:pPr>
            <a:r>
              <a:rPr lang="en-US" sz="50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внимание!</a:t>
            </a:r>
            <a:endParaRPr lang="en-US" sz="5000" dirty="0"/>
          </a:p>
        </p:txBody>
      </p:sp>
      <p:pic>
        <p:nvPicPr>
          <p:cNvPr id="5" name="Image 0" descr="/home/user/Mixed-astigmatism-calculator/presentation/assets/orig/eye-fina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56000" y="2413000"/>
            <a:ext cx="5080000" cy="355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5000" y="60325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Электронная почта: </a:t>
            </a:r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anastasianik2403@gmail.com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Современный подход к хирургической коррекции смешанного астигматизма</dc:title>
  <dc:subject>PptxGenJS Presentation</dc:subject>
  <dc:creator>Никитина А.Е.</dc:creator>
  <cp:lastModifiedBy>Никитина А.Е.</cp:lastModifiedBy>
  <cp:revision>1</cp:revision>
  <dcterms:created xsi:type="dcterms:W3CDTF">2026-10-13T19:52:02Z</dcterms:created>
  <dcterms:modified xsi:type="dcterms:W3CDTF">2026-10-13T19:52:02Z</dcterms:modified>
</cp:coreProperties>
</file>